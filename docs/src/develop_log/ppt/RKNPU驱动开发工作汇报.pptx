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关于RKNPU驱动开发的工作进展。本次汇报将重点介绍我们为提升RK3588芯片NPU性能所做的二次开发工作，包括项目背景、设计思路、核心实现以及最终的性能测试结果。希望通过这次分享，能让大家对我们的工作有一个清晰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会介绍项目的背景和我们设定的目标。接着，详细阐述驱动的总体设计方案。然后，深入到代码层面，解析核心的实现细节。之后，我们会探讨任务调度的机制。第五部分将展示我们的性能测试成果。最后，对本次工作进行总结并规划未来的工作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首先来看项目背景。我们的需求来源于StarryOS系统需要在RK3588平台上高效运行NPU推理任务。然而，我们发现原有的驱动存在明显的性能瓶颈，它只能调用NPU的单个核心，造成了硬件资源的巨大浪费。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因此，我们本次开发的核心目标非常明确：一是通过多核调度提升整体性能，二是通过实现一个任务调度器来优化任务管理。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目标，我们设计了一个分层解耦的架构。我们将整个驱动拆分为两个crates。第一个是RKNPU主体驱动，它只关心硬件操作，并通过trait定义了它需要操作系统提供的能力。第二个是StarryOS的桥接层，它负责实现这些trait，从而将操作系统和硬件驱动连接起来。这种设计的核心思想是通过trait抽象、外部请求接口和内部的任务调度器主循环，来构建一个灵活且高效的驱动体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深入到具体的实现细节，核心就是这三个Trait的设计。`RknpuSchedulerRuntime`集成了操作系统的线程和同步原语，是调度器的基石。`RknpuDeviceAccess`提供了对硬件的直接操作能力。而`RknpuUserMemory`则负责处理用户空间和内核空间的数据交换。这三个Trait共同构成了驱动与操作系统交互的契约，保证了驱动的可移植性和功能完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那么，任务是如何被处理的呢？这就是我们的任务调度机制。一个任务从提交开始，会经历入队、调度、执行和完成这几个阶段。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整个流程的核心是一个名为`worker_main`的调度器主循环，它就像一个交通警察，不断地从任务队列中取出任务，并智能地分配给空闲的NPU核心去执行，从而实现了真正的并行计算。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来看一下驱动内部的核心——worker_main主循环。这张流程图详细展示了它的工作逻辑。它不断地从任务队列中获取任务，进行一系列的准备和检查，然后分发给NPU核心执行，并处理任务完成后的各种情况，是整个调度系统的心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理论说完了，我们来看实际效果。我们通过对比单核心和三核心在不同任务负载下的表现来评估性能。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测试结果显示，对于执行时间较短的小任务，由于调度本身有一定开销，加速比在1.2到2倍之间。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但对于计算量大的大任务，多核的优势就体现出来了，我们测到的最大加速比接近2.8倍，这证明我们的设计是成功的。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工作进行总结和展望。我们成功地为RKNPU驱动增加了多核调度能力，并通过良好的架构设计保证了代码的质量。性能测试也验证了我们工作的价值。展望未来，我们将重点优化小任务场景下的调度效率，并继续完善驱动的接口，使其更加成熟和稳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我的汇报到此结束，感谢大家的聆听！如果大家有任何问题，欢迎提问。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8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32.sv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8.sv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RKNPU驱动开发工作汇报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937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DRIVER DEVELOPMENT REPORT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826000" y="5588000"/>
            <a:ext cx="2540000" cy="25400"/>
          </a:xfrm>
          <a:prstGeom prst="roundRect">
            <a:avLst>
              <a:gd name="adj" fmla="val 0"/>
            </a:avLst>
          </a:prstGeom>
          <a:solidFill>
            <a:srgbClr val="CCCC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841500"/>
            <a:ext cx="1143000" cy="1016000"/>
          </a:xfrm>
          <a:prstGeom prst="roundRect">
            <a:avLst>
              <a:gd name="adj" fmla="val 2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413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2413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阐述开发的起因与核心目标，明确项目启动的业务痛点。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492500"/>
            <a:ext cx="1143000" cy="1016000"/>
          </a:xfrm>
          <a:prstGeom prst="roundRect">
            <a:avLst>
              <a:gd name="adj" fmla="val 2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413000" y="355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总体设计方案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13000" y="4064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介绍驱动的整体架构逻辑，展示模块间的交互与设计思路。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143500"/>
            <a:ext cx="1143000" cy="1016000"/>
          </a:xfrm>
          <a:prstGeom prst="roundRect">
            <a:avLst>
              <a:gd name="adj" fmla="val 2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334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413000" y="520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核心实现细节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413000" y="5715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深入代码层面，解析关键的 Trait 设计与核心逻辑的封装。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841500"/>
            <a:ext cx="1143000" cy="1016000"/>
          </a:xfrm>
          <a:prstGeom prst="roundRect">
            <a:avLst>
              <a:gd name="adj" fmla="val 2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032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874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任务调度机制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874000" y="2413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讲解任务从创建到销毁的完整生命周期，梳理核心调度流程。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302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3492500"/>
            <a:ext cx="1143000" cy="1016000"/>
          </a:xfrm>
          <a:prstGeom prst="roundRect">
            <a:avLst>
              <a:gd name="adj" fmla="val 2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3683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874000" y="355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性能测试与成果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874000" y="4064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展示优化前后的关键指标对比数据，量化技术方案的实际收益。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4953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477000" y="5143500"/>
            <a:ext cx="1143000" cy="1016000"/>
          </a:xfrm>
          <a:prstGeom prst="roundRect">
            <a:avLst>
              <a:gd name="adj" fmla="val 25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77000" y="5334000"/>
            <a:ext cx="114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874000" y="5207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总结与未来规划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874000" y="5715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总结当前工作的核心产出，并对后续的迭代方向进行展望。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开发背景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DEVELOPMENT BACKGROUND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508000" cy="381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921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29210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业务场景需求驱动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32000" y="33274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在StarryOS系统环境下，迫切需要高效运行基于 Rockchip RK3588 芯片的 NPU 推理任务，以支撑核心业务的稳定落地。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4445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32000" y="44450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现有驱动性能瓶颈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032000" y="48514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原始驱动设计限制，仅支持调用 NPU 的第一个核心，导致剩余 2 个核心长期处于空闲状态，硬件算力资源未被充分挖掘。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OBJECTIVES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286000"/>
            <a:ext cx="508000" cy="381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2667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2921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493000" y="29210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多核调度 · 算力跃升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93000" y="33274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重构驱动底层逻辑，实现对 3 个 NPU 核心的并行调度，充分释放硬件的计算潜力，显著提升模型推理的速度。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191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4450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93000" y="44450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任务调度 · 智能管理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93000" y="48514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开发专用的 NPU 任务调度器模块，对推理任务进行智能分配与负载均衡，优化任务的执行流程，提升系统整体运行效率。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总体设计方案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381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8415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E6E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7300" y="2082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59000" y="184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RKNPU 主体驱动 (Crate 1)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159000" y="2413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专注于硬件交互，负责NPU硬件的底层初始化与指令下发。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59000" y="3175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设计特点：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OS 无关性，通过 Trait 抽象声明所需运行时能力。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381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254500"/>
            <a:ext cx="889000" cy="889000"/>
          </a:xfrm>
          <a:prstGeom prst="roundRect">
            <a:avLst>
              <a:gd name="adj" fmla="val 22857"/>
            </a:avLst>
          </a:prstGeom>
          <a:solidFill>
            <a:srgbClr val="E6E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300" y="4495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1590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StarryOS 桥接层 (Crate 2)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159000" y="4826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核心职责：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 RKNPU 定义的 Trait 接口，为硬件驱动提供操作系统运行时。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59000" y="5588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965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设计特点：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作为中间适配层，解耦硬件逻辑与内核细节。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524000"/>
            <a:ext cx="4953000" cy="1524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381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778000"/>
            <a:ext cx="762000" cy="762000"/>
          </a:xfrm>
          <a:prstGeom prst="roundRect">
            <a:avLst>
              <a:gd name="adj" fmla="val 26666"/>
            </a:avLst>
          </a:prstGeom>
          <a:solidFill>
            <a:srgbClr val="E6E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196850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493000" y="1778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 Trait 抽象定义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93000" y="22860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驱动层定义线程创建、内存分配等标准 Trait，要求操作系统实现，以此获取调度能力。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3302000"/>
            <a:ext cx="4953000" cy="1524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381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3556000"/>
            <a:ext cx="762000" cy="762000"/>
          </a:xfrm>
          <a:prstGeom prst="roundRect">
            <a:avLst>
              <a:gd name="adj" fmla="val 26666"/>
            </a:avLst>
          </a:prstGeom>
          <a:solidFill>
            <a:srgbClr val="E6E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3746500"/>
            <a:ext cx="381000" cy="381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93000" y="35560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统一的外部请求接口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493000" y="40640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对外暴露 ioctl 风格的接口，标准化接收来自用户态或内核其他模块的调用请求。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5080000"/>
            <a:ext cx="4953000" cy="1270000"/>
          </a:xfrm>
          <a:prstGeom prst="roundRect">
            <a:avLst>
              <a:gd name="adj" fmla="val 12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381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5334000"/>
            <a:ext cx="762000" cy="762000"/>
          </a:xfrm>
          <a:prstGeom prst="roundRect">
            <a:avLst>
              <a:gd name="adj" fmla="val 26666"/>
            </a:avLst>
          </a:prstGeom>
          <a:solidFill>
            <a:srgbClr val="E6E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5524500"/>
            <a:ext cx="381000" cy="381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93000" y="52705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内部任务调度主循环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93000" y="5715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`worker_main` 为核心，持续从队列中调度并消费任务。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核心实现细节：Trait设计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905000" y="1905000"/>
            <a:ext cx="1016000" cy="1016000"/>
          </a:xfrm>
          <a:prstGeom prst="ellipse">
            <a:avLst/>
          </a:prstGeom>
          <a:solidFill>
            <a:srgbClr val="E8EB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20955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RknpuSchedulerRuntime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683000"/>
            <a:ext cx="2921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3810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 · FEATURE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4191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集成OS的核心运行时功能，如创建线程、信号量操作、线程挂起等基础服务。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0165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5143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 · ROLE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43000" y="5461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为驱动的任务调度提供底层的操作系统支持与环境保障。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588000" y="1905000"/>
            <a:ext cx="1016000" cy="1016000"/>
          </a:xfrm>
          <a:prstGeom prst="ellipse">
            <a:avLst/>
          </a:prstGeom>
          <a:solidFill>
            <a:srgbClr val="E8EB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0955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572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RknpuDeviceAccess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3683000"/>
            <a:ext cx="2921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826000" y="3810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 · FEATURE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826000" y="4191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提供对底层RKNPU物理设备的临时、独占式访问能力与接口。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35500" y="50165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826000" y="5143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 · ROLE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826000" y="5461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允许驱动直接操作和管理NPU硬件实例，实现硬件资源的控制。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271000" y="1905000"/>
            <a:ext cx="1016000" cy="1016000"/>
          </a:xfrm>
          <a:prstGeom prst="ellipse">
            <a:avLst/>
          </a:prstGeom>
          <a:solidFill>
            <a:srgbClr val="E8EB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095500"/>
            <a:ext cx="635000" cy="635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255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RknpuUserMemory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3683000"/>
            <a:ext cx="2921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509000" y="3810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 · FEATURE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509000" y="4191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封装并实现用户空间与内核空间之间高效、安全的内存拷贝机制。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318500" y="50165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509000" y="51435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作用 · ROLE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509000" y="5461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驱动安全读写用户空间内存的核心通道，保障数据交互的可靠性。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762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任务生命周期：RknpuSubmit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155575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核心引擎：worker_main 主循环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86105" y="840740"/>
            <a:ext cx="11449685" cy="6016625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性能测试与成果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52600"/>
            <a:ext cx="558800" cy="558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676400"/>
            <a:ext cx="939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测试方法：单线程环境对比实验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0574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在单线程运行环境下，分别执行 NPU 单核心运行任务与三核心并行运行任务，通过采集完整的生命周期耗时数据进行横向对比分析。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048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0734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小任务场景 · 调度受限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366F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1.2x - 2.0x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加速比区间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572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受限于任务本身执行时间较短，多核并行带来的调度开销占比相对较大，导致整体加速效果不如预期显著。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2794000"/>
            <a:ext cx="5207000" cy="2794000"/>
          </a:xfrm>
          <a:prstGeom prst="roundRect">
            <a:avLst>
              <a:gd name="adj" fmla="val 5454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048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30734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大任务场景 · 算力爆发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683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2.8x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最大实测加速比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4572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对于计算密集型的大负载任务，多核架构能充分发挥并行计算优势，计算资源利用率大幅提升，性能改善效果显著。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总结与未来规划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857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730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多核调度能力实现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3111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成功将 RKNPU 驱动的多核调度能力移植到 StarryOS 系统上，实现了多核并行处理。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810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4127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4000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驱动架构解耦设计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4381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采用双 Crate 设计方案，有效分离了硬件驱动逻辑与 OS 适配层，大幅提升代码可维护性。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5080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5334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5270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系统性能显著提升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5613400"/>
            <a:ext cx="368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实测数据表明，在大任务并发场景下，系统整体吞吐量与响应速度均有明显优化。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667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3048000"/>
            <a:ext cx="635000" cy="635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620000" y="2921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深度优化任务调度器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0" y="34290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重点针对小任务场景进行算法优化，降低线程切换与同步开销，显著提升小任务的处理加速比。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4445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31000" y="4826000"/>
            <a:ext cx="635000" cy="635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620000" y="46990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持续完善驱动接口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0" y="52070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迭代更新 RKNPU 驱动 Crates 的 API 设计，提供更统一、易用的调用接口，增强生态适配能力。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826000" y="5207000"/>
            <a:ext cx="2540000" cy="25400"/>
          </a:xfrm>
          <a:prstGeom prst="roundRect">
            <a:avLst>
              <a:gd name="adj" fmla="val 0"/>
            </a:avLst>
          </a:prstGeom>
          <a:solidFill>
            <a:srgbClr val="CCCC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1787</Words>
  <Application>WPS 演示</Application>
  <PresentationFormat/>
  <Paragraphs>172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哈喽</cp:lastModifiedBy>
  <cp:revision>4</cp:revision>
  <dcterms:created xsi:type="dcterms:W3CDTF">2026-04-19T07:45:50Z</dcterms:created>
  <dcterms:modified xsi:type="dcterms:W3CDTF">2026-04-19T07:56:15Z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6AB22E3F043640E9831A339ECFEBBD1D_12</vt:lpwstr>
  </property>
  <property fmtid="{D5CDD505-2E9C-101B-9397-08002B2CF9AE}" pid="3" name="KSOProductBuildVer">
    <vt:lpwstr>2052-12.1.0.25865</vt:lpwstr>
  </property>
</Properties>
</file>